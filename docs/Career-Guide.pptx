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Montserrat" panose="020B0604020202020204" charset="0"/>
      <p:regular r:id="rId10"/>
    </p:embeddedFont>
    <p:embeddedFont>
      <p:font typeface="Bricolage Grotesque Extra Bold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E3F"/>
    <a:srgbClr val="B8B4B9"/>
    <a:srgbClr val="C919E1"/>
    <a:srgbClr val="EEAEF6"/>
    <a:srgbClr val="282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55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724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Career Guide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2138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 your future with our smart, interactive career assistant. Explore paths, find guidance, and take action towards your dream </a:t>
            </a:r>
            <a:r>
              <a:rPr lang="en-US" sz="24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jobs.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4837" y="1563775"/>
            <a:ext cx="556605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What is Career Guide?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18643" y="2453336"/>
            <a:ext cx="6535505" cy="427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Guide is an AI-powered chatbot that helps you explore career options, build learning roadmaps, and take actionable steps towards your dream job</a:t>
            </a:r>
            <a:r>
              <a:rPr lang="en-US" sz="24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algn="just">
              <a:lnSpc>
                <a:spcPts val="2550"/>
              </a:lnSpc>
            </a:pPr>
            <a:endParaRPr lang="en-US" sz="2400" dirty="0">
              <a:solidFill>
                <a:srgbClr val="E5DCE6"/>
              </a:solidFill>
              <a:latin typeface="Montserrat" pitchFamily="34" charset="0"/>
            </a:endParaRPr>
          </a:p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understanding your interests, skills, and education, we provide personalized recommendations and support to guide you through the career discovery process.</a:t>
            </a:r>
            <a:endParaRPr lang="en-US" sz="2400" dirty="0" smtClean="0"/>
          </a:p>
          <a:p>
            <a:pPr marL="0" indent="0" algn="just">
              <a:lnSpc>
                <a:spcPts val="2550"/>
              </a:lnSpc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1638" y="3563484"/>
            <a:ext cx="6342102" cy="205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190" y="1425432"/>
            <a:ext cx="5633582" cy="56335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467492" y="7718104"/>
            <a:ext cx="2039816" cy="404446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7971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01033"/>
            <a:ext cx="77704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Career Confusion Crisis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49973"/>
            <a:ext cx="4196358" cy="2032754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4776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Lack of </a:t>
            </a: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Direction</a:t>
            </a:r>
          </a:p>
        </p:txBody>
      </p:sp>
      <p:sp>
        <p:nvSpPr>
          <p:cNvPr id="6" name="Text 3"/>
          <p:cNvSpPr/>
          <p:nvPr/>
        </p:nvSpPr>
        <p:spPr>
          <a:xfrm>
            <a:off x="1020604" y="5267206"/>
            <a:ext cx="39695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and young professionals often feel confused about career direction</a:t>
            </a:r>
          </a:p>
        </p:txBody>
      </p:sp>
      <p:sp>
        <p:nvSpPr>
          <p:cNvPr id="7" name="Shape 4"/>
          <p:cNvSpPr/>
          <p:nvPr/>
        </p:nvSpPr>
        <p:spPr>
          <a:xfrm>
            <a:off x="5216962" y="4549973"/>
            <a:ext cx="4196358" cy="2032754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4776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Scattered Info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2672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information is spread across different websites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549973"/>
            <a:ext cx="4196358" cy="2032754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4776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Lack of Guidance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26720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people don't have access to career coaches or structured support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8378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decisions are too important to be left to chance. That's why we created Career Guide - to provide personalized, step-by-step support.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467492" y="7718104"/>
            <a:ext cx="2039816" cy="404446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038" y="1007625"/>
            <a:ext cx="6276380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Our AI-Powered Solution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83555" y="2175514"/>
            <a:ext cx="6342102" cy="4738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Guide is an interactive chatbot that matches you with potential career paths based on your interests, skills, and education background</a:t>
            </a:r>
            <a:r>
              <a:rPr lang="en-US" sz="24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algn="just">
              <a:lnSpc>
                <a:spcPts val="2550"/>
              </a:lnSpc>
            </a:pPr>
            <a:endParaRPr lang="en-US" sz="2400" dirty="0">
              <a:solidFill>
                <a:srgbClr val="E5DCE6"/>
              </a:solidFill>
              <a:latin typeface="Montserrat" pitchFamily="34" charset="0"/>
            </a:endParaRPr>
          </a:p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selecting a path, you can access personalized learning roadmaps, course recommendations, job listings, and downloadable career plans to turn your goals into reality</a:t>
            </a:r>
            <a:r>
              <a:rPr lang="en-US" sz="24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5DCE6"/>
              </a:solidFill>
              <a:latin typeface="Montserrat" pitchFamily="34" charset="0"/>
            </a:endParaRPr>
          </a:p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process is seamless and flexible - you can try out different paths until you find the perfect fit.</a:t>
            </a:r>
            <a:endParaRPr lang="en-US" sz="2400" dirty="0"/>
          </a:p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7423671" y="1354750"/>
            <a:ext cx="6497418" cy="5218440"/>
            <a:chOff x="7422561" y="889159"/>
            <a:chExt cx="6497418" cy="5218440"/>
          </a:xfrm>
        </p:grpSpPr>
        <p:sp>
          <p:nvSpPr>
            <p:cNvPr id="5" name="Shape 1"/>
            <p:cNvSpPr/>
            <p:nvPr/>
          </p:nvSpPr>
          <p:spPr>
            <a:xfrm>
              <a:off x="12091546" y="889159"/>
              <a:ext cx="1502193" cy="940551"/>
            </a:xfrm>
            <a:prstGeom prst="roundRect">
              <a:avLst>
                <a:gd name="adj" fmla="val 4687"/>
              </a:avLst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</p:sp>
        <p:sp>
          <p:nvSpPr>
            <p:cNvPr id="8" name="Shape 1"/>
            <p:cNvSpPr/>
            <p:nvPr/>
          </p:nvSpPr>
          <p:spPr>
            <a:xfrm>
              <a:off x="12091545" y="2095164"/>
              <a:ext cx="1502193" cy="981971"/>
            </a:xfrm>
            <a:prstGeom prst="roundRect">
              <a:avLst>
                <a:gd name="adj" fmla="val 4687"/>
              </a:avLst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Shape 1"/>
            <p:cNvSpPr/>
            <p:nvPr/>
          </p:nvSpPr>
          <p:spPr>
            <a:xfrm>
              <a:off x="9874817" y="2109018"/>
              <a:ext cx="1502193" cy="830718"/>
            </a:xfrm>
            <a:prstGeom prst="roundRect">
              <a:avLst>
                <a:gd name="adj" fmla="val 4687"/>
              </a:avLst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</p:sp>
        <p:sp>
          <p:nvSpPr>
            <p:cNvPr id="12" name="Shape 1"/>
            <p:cNvSpPr/>
            <p:nvPr/>
          </p:nvSpPr>
          <p:spPr>
            <a:xfrm>
              <a:off x="12573794" y="4909175"/>
              <a:ext cx="1346185" cy="1198424"/>
            </a:xfrm>
            <a:prstGeom prst="roundRect">
              <a:avLst>
                <a:gd name="adj" fmla="val 4687"/>
              </a:avLst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</p:sp>
        <p:sp>
          <p:nvSpPr>
            <p:cNvPr id="13" name="Shape 1"/>
            <p:cNvSpPr/>
            <p:nvPr/>
          </p:nvSpPr>
          <p:spPr>
            <a:xfrm>
              <a:off x="10835778" y="4927372"/>
              <a:ext cx="1394707" cy="1180227"/>
            </a:xfrm>
            <a:prstGeom prst="roundRect">
              <a:avLst>
                <a:gd name="adj" fmla="val 4687"/>
              </a:avLst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</p:sp>
        <p:sp>
          <p:nvSpPr>
            <p:cNvPr id="14" name="Shape 1"/>
            <p:cNvSpPr/>
            <p:nvPr/>
          </p:nvSpPr>
          <p:spPr>
            <a:xfrm>
              <a:off x="9139644" y="4909227"/>
              <a:ext cx="1348953" cy="1186323"/>
            </a:xfrm>
            <a:prstGeom prst="roundRect">
              <a:avLst>
                <a:gd name="adj" fmla="val 4687"/>
              </a:avLst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</p:sp>
        <p:sp>
          <p:nvSpPr>
            <p:cNvPr id="15" name="Shape 1"/>
            <p:cNvSpPr/>
            <p:nvPr/>
          </p:nvSpPr>
          <p:spPr>
            <a:xfrm>
              <a:off x="7422561" y="4907634"/>
              <a:ext cx="1348954" cy="1186324"/>
            </a:xfrm>
            <a:prstGeom prst="roundRect">
              <a:avLst>
                <a:gd name="adj" fmla="val 4687"/>
              </a:avLst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</p:sp>
        <p:sp>
          <p:nvSpPr>
            <p:cNvPr id="3" name="Flowchart: Decision 2"/>
            <p:cNvSpPr/>
            <p:nvPr/>
          </p:nvSpPr>
          <p:spPr>
            <a:xfrm>
              <a:off x="9791691" y="3351770"/>
              <a:ext cx="1655434" cy="1149927"/>
            </a:xfrm>
            <a:prstGeom prst="flowChartDecision">
              <a:avLst/>
            </a:prstGeom>
            <a:solidFill>
              <a:srgbClr val="282D5E"/>
            </a:solidFill>
            <a:ln>
              <a:solidFill>
                <a:srgbClr val="EEAEF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>
              <a:stCxn id="5" idx="2"/>
              <a:endCxn id="8" idx="0"/>
            </p:cNvCxnSpPr>
            <p:nvPr/>
          </p:nvCxnSpPr>
          <p:spPr>
            <a:xfrm flipH="1">
              <a:off x="12842642" y="1829710"/>
              <a:ext cx="1" cy="265454"/>
            </a:xfrm>
            <a:prstGeom prst="straightConnector1">
              <a:avLst/>
            </a:prstGeom>
            <a:ln w="57150">
              <a:solidFill>
                <a:srgbClr val="C919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1377010" y="2482814"/>
              <a:ext cx="714535" cy="13853"/>
            </a:xfrm>
            <a:prstGeom prst="straightConnector1">
              <a:avLst/>
            </a:prstGeom>
            <a:ln w="57150">
              <a:solidFill>
                <a:srgbClr val="C919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9" idx="2"/>
            </p:cNvCxnSpPr>
            <p:nvPr/>
          </p:nvCxnSpPr>
          <p:spPr>
            <a:xfrm flipH="1">
              <a:off x="10625913" y="2939736"/>
              <a:ext cx="1" cy="412034"/>
            </a:xfrm>
            <a:prstGeom prst="straightConnector1">
              <a:avLst/>
            </a:prstGeom>
            <a:ln w="57150">
              <a:solidFill>
                <a:srgbClr val="C919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8071374" y="3940589"/>
              <a:ext cx="1748028" cy="20784"/>
            </a:xfrm>
            <a:prstGeom prst="line">
              <a:avLst/>
            </a:prstGeom>
            <a:ln w="57150">
              <a:solidFill>
                <a:srgbClr val="C919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11424484" y="3937126"/>
              <a:ext cx="1751504" cy="10392"/>
            </a:xfrm>
            <a:prstGeom prst="line">
              <a:avLst/>
            </a:prstGeom>
            <a:ln w="57150">
              <a:solidFill>
                <a:srgbClr val="C919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>
              <a:off x="9448277" y="3947518"/>
              <a:ext cx="1" cy="966213"/>
            </a:xfrm>
            <a:prstGeom prst="straightConnector1">
              <a:avLst/>
            </a:prstGeom>
            <a:ln w="57150">
              <a:solidFill>
                <a:srgbClr val="C919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>
              <a:off x="8096190" y="3947518"/>
              <a:ext cx="1" cy="966213"/>
            </a:xfrm>
            <a:prstGeom prst="straightConnector1">
              <a:avLst/>
            </a:prstGeom>
            <a:ln w="57150">
              <a:solidFill>
                <a:srgbClr val="C919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13147908" y="3963970"/>
              <a:ext cx="1" cy="966213"/>
            </a:xfrm>
            <a:prstGeom prst="straightConnector1">
              <a:avLst/>
            </a:prstGeom>
            <a:ln w="57150">
              <a:solidFill>
                <a:srgbClr val="C919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11667547" y="3966498"/>
              <a:ext cx="1" cy="966213"/>
            </a:xfrm>
            <a:prstGeom prst="straightConnector1">
              <a:avLst/>
            </a:prstGeom>
            <a:ln w="57150">
              <a:solidFill>
                <a:srgbClr val="C919E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2153096" y="994596"/>
              <a:ext cx="13641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User Info Input: Education, Skills, Interests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2001899" y="2134246"/>
              <a:ext cx="168148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Career Path Suggestions: 3 Options with Summary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944763" y="3699763"/>
              <a:ext cx="13641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Help Do You Want?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949644" y="2218213"/>
              <a:ext cx="13641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User Selects a Career Path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873201" y="5131464"/>
              <a:ext cx="13641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Job Listings: LinkedIn, 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Remotive</a:t>
              </a:r>
              <a:r>
                <a:rPr lang="en-US" sz="1400" dirty="0" smtClean="0">
                  <a:solidFill>
                    <a:schemeClr val="bg1"/>
                  </a:solidFill>
                </a:rPr>
                <a:t> AI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2555836" y="5124656"/>
              <a:ext cx="13641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Download Career Plan as PDF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423671" y="4936378"/>
              <a:ext cx="136879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Learning Roadmap: Basics → Intermediate → Advanced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139644" y="4938048"/>
              <a:ext cx="141909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Courses &amp; Tutorials: YouTube, Coursera,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Udemy</a:t>
              </a:r>
              <a:r>
                <a:rPr lang="en-US" sz="1400" dirty="0" smtClean="0">
                  <a:solidFill>
                    <a:schemeClr val="bg1"/>
                  </a:solidFill>
                </a:rPr>
                <a:t>, </a:t>
              </a:r>
              <a:r>
                <a:rPr lang="en-US" sz="1400" dirty="0" err="1">
                  <a:solidFill>
                    <a:schemeClr val="bg1"/>
                  </a:solidFill>
                </a:rPr>
                <a:t>E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dx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12467492" y="7718104"/>
            <a:ext cx="2039816" cy="404446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404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0239" y="364033"/>
            <a:ext cx="4732377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Tools &amp; Technologies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4320455" y="1083826"/>
            <a:ext cx="9682877" cy="933211"/>
          </a:xfrm>
          <a:prstGeom prst="roundRect">
            <a:avLst>
              <a:gd name="adj" fmla="val 699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315" y="1116619"/>
            <a:ext cx="737116" cy="894872"/>
          </a:xfrm>
          <a:prstGeom prst="roundRect">
            <a:avLst>
              <a:gd name="adj" fmla="val 6780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4573701" y="1404899"/>
            <a:ext cx="276344" cy="291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</a:rPr>
              <a:t>1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5264620" y="1308554"/>
            <a:ext cx="3993526" cy="2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4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Streamlit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264620" y="1612840"/>
            <a:ext cx="3770627" cy="341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UI 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</a:t>
            </a:r>
          </a:p>
          <a:p>
            <a:pPr marL="0" indent="0" algn="l">
              <a:lnSpc>
                <a:spcPts val="2300"/>
              </a:lnSpc>
              <a:buNone/>
            </a:pPr>
            <a:endParaRPr lang="en-US" sz="16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02562" y="3422830"/>
            <a:ext cx="9682877" cy="942003"/>
          </a:xfrm>
          <a:prstGeom prst="roundRect">
            <a:avLst>
              <a:gd name="adj" fmla="val 699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25422" y="3442278"/>
            <a:ext cx="737116" cy="903107"/>
          </a:xfrm>
          <a:prstGeom prst="roundRect">
            <a:avLst>
              <a:gd name="adj" fmla="val 6780"/>
            </a:avLst>
          </a:prstGeom>
          <a:solidFill>
            <a:srgbClr val="282D5E"/>
          </a:solidFill>
          <a:ln/>
        </p:spPr>
      </p:sp>
      <p:sp>
        <p:nvSpPr>
          <p:cNvPr id="16" name="Text 13"/>
          <p:cNvSpPr/>
          <p:nvPr/>
        </p:nvSpPr>
        <p:spPr>
          <a:xfrm>
            <a:off x="4555808" y="3746859"/>
            <a:ext cx="276344" cy="29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5246727" y="3598975"/>
            <a:ext cx="2303740" cy="244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4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Python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312043" y="3937893"/>
            <a:ext cx="8715851" cy="250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and data handling</a:t>
            </a:r>
          </a:p>
        </p:txBody>
      </p:sp>
      <p:sp>
        <p:nvSpPr>
          <p:cNvPr id="19" name="Shape 16"/>
          <p:cNvSpPr/>
          <p:nvPr/>
        </p:nvSpPr>
        <p:spPr>
          <a:xfrm>
            <a:off x="4302562" y="5750815"/>
            <a:ext cx="9682877" cy="955964"/>
          </a:xfrm>
          <a:prstGeom prst="roundRect">
            <a:avLst>
              <a:gd name="adj" fmla="val 699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25422" y="5770551"/>
            <a:ext cx="737116" cy="916492"/>
          </a:xfrm>
          <a:prstGeom prst="roundRect">
            <a:avLst>
              <a:gd name="adj" fmla="val 6780"/>
            </a:avLst>
          </a:prstGeom>
          <a:solidFill>
            <a:srgbClr val="282D5E"/>
          </a:solidFill>
          <a:ln/>
        </p:spPr>
      </p:sp>
      <p:sp>
        <p:nvSpPr>
          <p:cNvPr id="21" name="Text 18"/>
          <p:cNvSpPr/>
          <p:nvPr/>
        </p:nvSpPr>
        <p:spPr>
          <a:xfrm>
            <a:off x="4555808" y="6079646"/>
            <a:ext cx="276344" cy="29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</a:rPr>
              <a:t>5</a:t>
            </a:r>
            <a:endParaRPr lang="en-US" sz="2150" dirty="0"/>
          </a:p>
        </p:txBody>
      </p:sp>
      <p:sp>
        <p:nvSpPr>
          <p:cNvPr id="22" name="Text 19"/>
          <p:cNvSpPr/>
          <p:nvPr/>
        </p:nvSpPr>
        <p:spPr>
          <a:xfrm>
            <a:off x="5246727" y="5929570"/>
            <a:ext cx="2303740" cy="24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400" b="1" dirty="0" err="1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pdfkit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328372" y="6273512"/>
            <a:ext cx="8715851" cy="25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Downloadable 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generation</a:t>
            </a:r>
          </a:p>
          <a:p>
            <a:pPr>
              <a:lnSpc>
                <a:spcPts val="2300"/>
              </a:lnSpc>
            </a:pPr>
            <a:endParaRPr lang="en-US" sz="16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ts val="2300"/>
              </a:lnSpc>
            </a:pPr>
            <a:endParaRPr lang="en-US" sz="16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467492" y="7718104"/>
            <a:ext cx="2039816" cy="404446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hape 16"/>
          <p:cNvSpPr/>
          <p:nvPr/>
        </p:nvSpPr>
        <p:spPr>
          <a:xfrm>
            <a:off x="4297595" y="4605990"/>
            <a:ext cx="9682877" cy="911469"/>
          </a:xfrm>
          <a:prstGeom prst="roundRect">
            <a:avLst>
              <a:gd name="adj" fmla="val 699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31" name="Shape 17"/>
          <p:cNvSpPr/>
          <p:nvPr/>
        </p:nvSpPr>
        <p:spPr>
          <a:xfrm>
            <a:off x="4320455" y="4624807"/>
            <a:ext cx="737116" cy="873834"/>
          </a:xfrm>
          <a:prstGeom prst="roundRect">
            <a:avLst>
              <a:gd name="adj" fmla="val 6780"/>
            </a:avLst>
          </a:prstGeom>
          <a:solidFill>
            <a:srgbClr val="282D5E"/>
          </a:solidFill>
          <a:ln/>
        </p:spPr>
      </p:sp>
      <p:sp>
        <p:nvSpPr>
          <p:cNvPr id="32" name="Text 18"/>
          <p:cNvSpPr/>
          <p:nvPr/>
        </p:nvSpPr>
        <p:spPr>
          <a:xfrm>
            <a:off x="4550841" y="4919516"/>
            <a:ext cx="276344" cy="284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2150" dirty="0"/>
          </a:p>
        </p:txBody>
      </p:sp>
      <p:sp>
        <p:nvSpPr>
          <p:cNvPr id="33" name="Text 19"/>
          <p:cNvSpPr/>
          <p:nvPr/>
        </p:nvSpPr>
        <p:spPr>
          <a:xfrm>
            <a:off x="5241760" y="4776425"/>
            <a:ext cx="2303740" cy="23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4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YouTube </a:t>
            </a:r>
            <a:r>
              <a:rPr lang="en-US" sz="2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API</a:t>
            </a:r>
          </a:p>
        </p:txBody>
      </p:sp>
      <p:sp>
        <p:nvSpPr>
          <p:cNvPr id="34" name="Text 20"/>
          <p:cNvSpPr/>
          <p:nvPr/>
        </p:nvSpPr>
        <p:spPr>
          <a:xfrm>
            <a:off x="5323405" y="5104358"/>
            <a:ext cx="8715851" cy="24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 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tutorial search</a:t>
            </a:r>
          </a:p>
          <a:p>
            <a:pPr>
              <a:lnSpc>
                <a:spcPts val="2300"/>
              </a:lnSpc>
            </a:pPr>
            <a:endParaRPr lang="en-US" sz="16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4320454" y="6985710"/>
            <a:ext cx="9682877" cy="900232"/>
          </a:xfrm>
          <a:prstGeom prst="roundRect">
            <a:avLst>
              <a:gd name="adj" fmla="val 699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37" name="Shape 17"/>
          <p:cNvSpPr/>
          <p:nvPr/>
        </p:nvSpPr>
        <p:spPr>
          <a:xfrm>
            <a:off x="4343314" y="7004295"/>
            <a:ext cx="737116" cy="863061"/>
          </a:xfrm>
          <a:prstGeom prst="roundRect">
            <a:avLst>
              <a:gd name="adj" fmla="val 6780"/>
            </a:avLst>
          </a:prstGeom>
          <a:solidFill>
            <a:srgbClr val="282D5E"/>
          </a:solidFill>
          <a:ln/>
        </p:spPr>
      </p:sp>
      <p:sp>
        <p:nvSpPr>
          <p:cNvPr id="38" name="Text 18"/>
          <p:cNvSpPr/>
          <p:nvPr/>
        </p:nvSpPr>
        <p:spPr>
          <a:xfrm>
            <a:off x="4573700" y="7295371"/>
            <a:ext cx="276344" cy="280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</a:rPr>
              <a:t>6</a:t>
            </a:r>
            <a:endParaRPr lang="en-US" sz="2150" dirty="0"/>
          </a:p>
        </p:txBody>
      </p:sp>
      <p:sp>
        <p:nvSpPr>
          <p:cNvPr id="39" name="Text 19"/>
          <p:cNvSpPr/>
          <p:nvPr/>
        </p:nvSpPr>
        <p:spPr>
          <a:xfrm>
            <a:off x="5264619" y="7154044"/>
            <a:ext cx="2303740" cy="234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4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Hugging </a:t>
            </a:r>
            <a:r>
              <a:rPr lang="en-US" sz="2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Face </a:t>
            </a:r>
            <a:r>
              <a:rPr lang="en-US" sz="24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Spaces</a:t>
            </a:r>
            <a:endParaRPr lang="en-US" sz="2400" dirty="0"/>
          </a:p>
        </p:txBody>
      </p:sp>
      <p:sp>
        <p:nvSpPr>
          <p:cNvPr id="40" name="Text 20"/>
          <p:cNvSpPr/>
          <p:nvPr/>
        </p:nvSpPr>
        <p:spPr>
          <a:xfrm>
            <a:off x="5313032" y="7477934"/>
            <a:ext cx="8715851" cy="2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platform</a:t>
            </a:r>
          </a:p>
          <a:p>
            <a:pPr>
              <a:lnSpc>
                <a:spcPts val="2300"/>
              </a:lnSpc>
            </a:pPr>
            <a:endParaRPr lang="en-US" sz="16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ts val="2300"/>
              </a:lnSpc>
            </a:pPr>
            <a:r>
              <a:rPr lang="en-US" sz="16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6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297594" y="2230704"/>
            <a:ext cx="9682877" cy="982718"/>
          </a:xfrm>
          <a:prstGeom prst="roundRect">
            <a:avLst>
              <a:gd name="adj" fmla="val 699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51" name="Shape 7"/>
          <p:cNvSpPr/>
          <p:nvPr/>
        </p:nvSpPr>
        <p:spPr>
          <a:xfrm>
            <a:off x="4320454" y="2265236"/>
            <a:ext cx="737116" cy="942345"/>
          </a:xfrm>
          <a:prstGeom prst="roundRect">
            <a:avLst>
              <a:gd name="adj" fmla="val 6780"/>
            </a:avLst>
          </a:prstGeom>
          <a:solidFill>
            <a:srgbClr val="282D5E"/>
          </a:solidFill>
          <a:ln/>
        </p:spPr>
      </p:sp>
      <p:sp>
        <p:nvSpPr>
          <p:cNvPr id="52" name="Text 8"/>
          <p:cNvSpPr/>
          <p:nvPr/>
        </p:nvSpPr>
        <p:spPr>
          <a:xfrm>
            <a:off x="4550840" y="2568810"/>
            <a:ext cx="276344" cy="30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150" dirty="0"/>
          </a:p>
        </p:txBody>
      </p:sp>
      <p:sp>
        <p:nvSpPr>
          <p:cNvPr id="53" name="Text 9"/>
          <p:cNvSpPr/>
          <p:nvPr/>
        </p:nvSpPr>
        <p:spPr>
          <a:xfrm>
            <a:off x="5241759" y="2467353"/>
            <a:ext cx="3993526" cy="25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400" b="1" dirty="0" err="1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Groq</a:t>
            </a:r>
            <a:r>
              <a:rPr lang="en-US" sz="24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2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API (</a:t>
            </a:r>
            <a:r>
              <a:rPr lang="en-US" sz="2400" b="1" dirty="0" err="1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LLaMA</a:t>
            </a:r>
            <a:r>
              <a:rPr lang="en-US" sz="2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3.3-70B</a:t>
            </a:r>
            <a:r>
              <a:rPr lang="en-US" sz="2400" b="1" dirty="0" smtClean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)</a:t>
            </a:r>
            <a:endParaRPr lang="en-US" sz="2400" dirty="0"/>
          </a:p>
        </p:txBody>
      </p:sp>
      <p:sp>
        <p:nvSpPr>
          <p:cNvPr id="54" name="Text 10"/>
          <p:cNvSpPr/>
          <p:nvPr/>
        </p:nvSpPr>
        <p:spPr>
          <a:xfrm>
            <a:off x="5307075" y="2787782"/>
            <a:ext cx="3770627" cy="360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suggestions &amp; roadmap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"/>
            <a:ext cx="38404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13831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Social Impact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4451390" y="2432090"/>
            <a:ext cx="4579144" cy="2456617"/>
          </a:xfrm>
          <a:prstGeom prst="roundRect">
            <a:avLst>
              <a:gd name="adj" fmla="val 5956"/>
            </a:avLst>
          </a:prstGeom>
          <a:solidFill>
            <a:srgbClr val="090E3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20910" y="243209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6" name="Text 3"/>
          <p:cNvSpPr/>
          <p:nvPr/>
        </p:nvSpPr>
        <p:spPr>
          <a:xfrm>
            <a:off x="4800124" y="2689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Global Accessibility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800124" y="3179802"/>
            <a:ext cx="3973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guidance made available worldwide, especially for underserved students and first-gen learners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9257348" y="2432090"/>
            <a:ext cx="4579263" cy="2456617"/>
          </a:xfrm>
          <a:prstGeom prst="roundRect">
            <a:avLst>
              <a:gd name="adj" fmla="val 5956"/>
            </a:avLst>
          </a:prstGeom>
          <a:solidFill>
            <a:srgbClr val="090E3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26868" y="243209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10" name="Text 7"/>
          <p:cNvSpPr/>
          <p:nvPr/>
        </p:nvSpPr>
        <p:spPr>
          <a:xfrm>
            <a:off x="9606082" y="2689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Online Availability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06082" y="3179802"/>
            <a:ext cx="3973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need for costly in-person coaching - Career Guide is accessible anytime, anywhere on your mobile device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451390" y="5115520"/>
            <a:ext cx="9385221" cy="1730812"/>
          </a:xfrm>
          <a:prstGeom prst="roundRect">
            <a:avLst>
              <a:gd name="adj" fmla="val 8453"/>
            </a:avLst>
          </a:prstGeom>
          <a:solidFill>
            <a:srgbClr val="090E3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20910" y="5115520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124" y="5372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Informed Decisions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800124" y="5863233"/>
            <a:ext cx="87791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Promotes independent, confident career choices in a complex, fast-changing world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467492" y="7718104"/>
            <a:ext cx="2039816" cy="404446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804089" y="10714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Meet the Team</a:t>
            </a:r>
            <a:endParaRPr lang="en-US" sz="4450" dirty="0"/>
          </a:p>
        </p:txBody>
      </p:sp>
      <p:sp>
        <p:nvSpPr>
          <p:cNvPr id="23" name="Text 4"/>
          <p:cNvSpPr/>
          <p:nvPr/>
        </p:nvSpPr>
        <p:spPr>
          <a:xfrm>
            <a:off x="4575967" y="5512373"/>
            <a:ext cx="2845594" cy="1572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the idea </a:t>
            </a:r>
            <a:r>
              <a:rPr lang="en-US" sz="175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Lead / Slide </a:t>
            </a:r>
            <a:endParaRPr lang="en-US" sz="1750" dirty="0" smtClean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Designer</a:t>
            </a:r>
            <a:endParaRPr lang="en-US" sz="175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1421854" y="49149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 err="1" smtClean="0">
                <a:solidFill>
                  <a:srgbClr val="EEAEF6"/>
                </a:solidFill>
                <a:latin typeface="Bricolage Grotesque Extra Bold" pitchFamily="34" charset="0"/>
              </a:rPr>
              <a:t>Asima</a:t>
            </a:r>
            <a:r>
              <a:rPr lang="en-US" sz="2400" b="1" dirty="0" smtClean="0">
                <a:solidFill>
                  <a:srgbClr val="EEAEF6"/>
                </a:solidFill>
                <a:latin typeface="Bricolage Grotesque Extra Bold" pitchFamily="34" charset="0"/>
              </a:rPr>
              <a:t> </a:t>
            </a:r>
            <a:r>
              <a:rPr lang="en-US" sz="2400" b="1" dirty="0" err="1" smtClean="0">
                <a:solidFill>
                  <a:srgbClr val="EEAEF6"/>
                </a:solidFill>
                <a:latin typeface="Bricolage Grotesque Extra Bold" pitchFamily="34" charset="0"/>
              </a:rPr>
              <a:t>Riaz</a:t>
            </a:r>
            <a:endParaRPr lang="en-US" sz="2400" dirty="0"/>
          </a:p>
        </p:txBody>
      </p:sp>
      <p:sp>
        <p:nvSpPr>
          <p:cNvPr id="29" name="Text 8"/>
          <p:cNvSpPr/>
          <p:nvPr/>
        </p:nvSpPr>
        <p:spPr>
          <a:xfrm>
            <a:off x="11389193" y="5496044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Maker / QA Tester</a:t>
            </a:r>
            <a:endParaRPr lang="en-US" sz="1750" dirty="0"/>
          </a:p>
        </p:txBody>
      </p:sp>
      <p:sp>
        <p:nvSpPr>
          <p:cNvPr id="19" name="Text 1"/>
          <p:cNvSpPr/>
          <p:nvPr/>
        </p:nvSpPr>
        <p:spPr>
          <a:xfrm>
            <a:off x="1267328" y="4980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2400" b="1" dirty="0" err="1" smtClean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Faiza</a:t>
            </a:r>
            <a:r>
              <a:rPr lang="en-US" sz="2400" b="1" dirty="0" smtClean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2400" b="1" dirty="0" err="1" smtClean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Riaz</a:t>
            </a:r>
            <a:endParaRPr lang="en-US" sz="2400" dirty="0"/>
          </a:p>
        </p:txBody>
      </p:sp>
      <p:sp>
        <p:nvSpPr>
          <p:cNvPr id="20" name="Text 2"/>
          <p:cNvSpPr/>
          <p:nvPr/>
        </p:nvSpPr>
        <p:spPr>
          <a:xfrm>
            <a:off x="1267328" y="5561360"/>
            <a:ext cx="2845594" cy="113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Lead / 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</a:t>
            </a:r>
            <a:r>
              <a:rPr lang="en-US" sz="175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 / 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Integrator</a:t>
            </a:r>
          </a:p>
        </p:txBody>
      </p:sp>
      <p:sp>
        <p:nvSpPr>
          <p:cNvPr id="22" name="Text 3"/>
          <p:cNvSpPr/>
          <p:nvPr/>
        </p:nvSpPr>
        <p:spPr>
          <a:xfrm>
            <a:off x="4673944" y="4980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 err="1" smtClean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Fouzia</a:t>
            </a:r>
            <a:r>
              <a:rPr lang="en-US" sz="2400" b="1" dirty="0" smtClean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2400" b="1" dirty="0" err="1" smtClean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Riaz</a:t>
            </a:r>
            <a:endParaRPr lang="en-US" sz="2400" dirty="0"/>
          </a:p>
        </p:txBody>
      </p:sp>
      <p:sp>
        <p:nvSpPr>
          <p:cNvPr id="25" name="Text 5"/>
          <p:cNvSpPr/>
          <p:nvPr/>
        </p:nvSpPr>
        <p:spPr>
          <a:xfrm>
            <a:off x="8080560" y="4980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 err="1" smtClean="0">
                <a:solidFill>
                  <a:srgbClr val="EEAEF6"/>
                </a:solidFill>
                <a:latin typeface="Bricolage Grotesque Extra Bold" pitchFamily="34" charset="0"/>
              </a:rPr>
              <a:t>Mohsin</a:t>
            </a:r>
            <a:r>
              <a:rPr lang="en-US" sz="2400" b="1" dirty="0" smtClean="0">
                <a:solidFill>
                  <a:srgbClr val="EEAEF6"/>
                </a:solidFill>
                <a:latin typeface="Bricolage Grotesque Extra Bold" pitchFamily="34" charset="0"/>
              </a:rPr>
              <a:t> Ali</a:t>
            </a:r>
            <a:endParaRPr lang="en-US" sz="2400" dirty="0"/>
          </a:p>
        </p:txBody>
      </p:sp>
      <p:sp>
        <p:nvSpPr>
          <p:cNvPr id="26" name="Text 6"/>
          <p:cNvSpPr/>
          <p:nvPr/>
        </p:nvSpPr>
        <p:spPr>
          <a:xfrm>
            <a:off x="8064231" y="5545030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UI/UX 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Designer</a:t>
            </a:r>
            <a:endParaRPr lang="en-US" sz="1750" dirty="0"/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324569" y="2298562"/>
            <a:ext cx="2447802" cy="245484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045161" y="2298562"/>
            <a:ext cx="2447802" cy="245484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0926154" y="2298562"/>
            <a:ext cx="2447802" cy="245484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7603977" y="2298562"/>
            <a:ext cx="2447802" cy="245484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2467492" y="7718104"/>
            <a:ext cx="2039816" cy="404446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424</Words>
  <Application>Microsoft Office PowerPoint</Application>
  <PresentationFormat>Custom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Montserrat</vt:lpstr>
      <vt:lpstr>Bricolage Grotesque Extra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Life</dc:creator>
  <cp:lastModifiedBy>Life</cp:lastModifiedBy>
  <cp:revision>34</cp:revision>
  <dcterms:created xsi:type="dcterms:W3CDTF">2025-07-25T08:37:46Z</dcterms:created>
  <dcterms:modified xsi:type="dcterms:W3CDTF">2025-07-27T01:53:39Z</dcterms:modified>
</cp:coreProperties>
</file>